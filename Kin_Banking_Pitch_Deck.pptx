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6A61"/>
              </a:solidFill>
              <a:ln w="25400" cap="flat">
                <a:solidFill>
                  <a:srgbClr val="F5FBF8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0FA89A"/>
              </a:solidFill>
              <a:ln w="25400" cap="flat">
                <a:solidFill>
                  <a:srgbClr val="F5FBF8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FC247"/>
              </a:solidFill>
              <a:ln w="25400" cap="flat">
                <a:solidFill>
                  <a:srgbClr val="F5FBF8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FC6958"/>
              </a:solidFill>
              <a:ln w="25400" cap="flat">
                <a:solidFill>
                  <a:srgbClr val="F5FBF8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App development &amp; infrastructure</c:v>
                </c:pt>
                <c:pt idx="1">
                  <c:v>Regulatory &amp; compliance (FCA)</c:v>
                </c:pt>
                <c:pt idx="2">
                  <c:v>Marketing &amp; user acquisition</c:v>
                </c:pt>
                <c:pt idx="3">
                  <c:v>Operations &amp; team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4.png"/><Relationship Id="rId6" Type="http://schemas.openxmlformats.org/officeDocument/2006/relationships/image" Target="../media/image-4-4.png"/><Relationship Id="rId7" Type="http://schemas.openxmlformats.org/officeDocument/2006/relationships/image" Target="../media/image-4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7.png"/><Relationship Id="rId9" Type="http://schemas.openxmlformats.org/officeDocument/2006/relationships/image" Target="../media/image-6-7.png"/><Relationship Id="rId10" Type="http://schemas.openxmlformats.org/officeDocument/2006/relationships/image" Target="../media/image-6-7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image" Target="../media/image-7-5.png"/><Relationship Id="rId7" Type="http://schemas.openxmlformats.org/officeDocument/2006/relationships/image" Target="../media/image-7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3.png"/><Relationship Id="rId5" Type="http://schemas.openxmlformats.org/officeDocument/2006/relationships/image" Target="../media/image-9-3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ver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pic>
        <p:nvPicPr>
          <p:cNvPr id="3" name="Image 1" descr="assets/hero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0" y="0"/>
            <a:ext cx="5333695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583680" y="0"/>
            <a:ext cx="640080" cy="6858000"/>
          </a:xfrm>
          <a:prstGeom prst="rect">
            <a:avLst/>
          </a:prstGeom>
          <a:solidFill>
            <a:srgbClr val="003530">
              <a:alpha val="45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914400" y="502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</a:t>
            </a:r>
            <a:endParaRPr lang="en-US" sz="40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566928"/>
            <a:ext cx="384048" cy="56692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1440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C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ERA OF BANKING · EQUITY CROWDFUNDING</a:t>
            </a:r>
            <a:endParaRPr lang="en-US" sz="1100" dirty="0"/>
          </a:p>
        </p:txBody>
      </p:sp>
      <p:sp>
        <p:nvSpPr>
          <p:cNvPr id="8" name="Text 3"/>
          <p:cNvSpPr/>
          <p:nvPr/>
        </p:nvSpPr>
        <p:spPr>
          <a:xfrm>
            <a:off x="868680" y="21945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Like </a:t>
            </a:r>
            <a:pPr algn="l" indent="0" marL="0">
              <a:lnSpc>
                <a:spcPts val="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</a:t>
            </a:r>
            <a:endParaRPr lang="en-US" sz="5200" dirty="0"/>
          </a:p>
          <a:p>
            <a:pPr algn="l" indent="0" marL="0">
              <a:lnSpc>
                <a:spcPts val="5000"/>
              </a:lnSpc>
              <a:buNone/>
            </a:pPr>
            <a:r>
              <a:rPr lang="en-US" sz="5200" b="1" dirty="0">
                <a:solidFill>
                  <a:srgbClr val="FFC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It.</a:t>
            </a:r>
            <a:endParaRPr lang="en-US" sz="5200" dirty="0"/>
          </a:p>
        </p:txBody>
      </p:sp>
      <p:sp>
        <p:nvSpPr>
          <p:cNvPr id="9" name="Text 4"/>
          <p:cNvSpPr/>
          <p:nvPr/>
        </p:nvSpPr>
        <p:spPr>
          <a:xfrm>
            <a:off x="914400" y="4114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7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banking, built for the Caribbean. Send money home instantly, with zero hidden fees.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914400" y="507492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14300" dist="38100" dir="5400000">
              <a:srgbClr val="0A1413">
                <a:alpha val="16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1188720" y="5138928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900" b="1" spc="200" kern="0" dirty="0">
                <a:solidFill>
                  <a:srgbClr val="00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RAISE
</a:t>
            </a:r>
            <a:pPr algn="l" indent="0" marL="0">
              <a:lnSpc>
                <a:spcPts val="2000"/>
              </a:lnSpc>
              <a:buNone/>
            </a:pPr>
            <a:r>
              <a:rPr lang="en-US" sz="2100" b="1" dirty="0">
                <a:solidFill>
                  <a:srgbClr val="171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£350,000 – £500,000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3977640" y="513892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900" b="1" spc="200" kern="0" dirty="0">
                <a:solidFill>
                  <a:srgbClr val="00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NO.
</a:t>
            </a:r>
            <a:pPr algn="l" indent="0" marL="0">
              <a:lnSpc>
                <a:spcPts val="2000"/>
              </a:lnSpc>
              <a:buNone/>
            </a:pPr>
            <a:r>
              <a:rPr lang="en-US" sz="2100" b="1" dirty="0">
                <a:solidFill>
                  <a:srgbClr val="171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15297454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9F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 SaaS Ltd</a:t>
            </a:r>
            <a:pPr algn="l" indent="0" marL="0">
              <a:buNone/>
            </a:pPr>
            <a:r>
              <a:rPr lang="en-US" sz="850" spc="100" kern="0" dirty="0">
                <a:solidFill>
                  <a:srgbClr val="9F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CONFIDENTIAL   ·   360saas.co.uk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AE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896112"/>
            <a:ext cx="310896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8686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 has failed the Caribbean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05840" y="15544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200 million adults across Latin America and the Caribbean remain unbanked or underbanked. Legacy infrastructure has ignored the region for decades.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94360" y="233172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13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86968" y="2642616"/>
            <a:ext cx="868680" cy="868680"/>
          </a:xfrm>
          <a:prstGeom prst="ellipse">
            <a:avLst/>
          </a:prstGeom>
          <a:solidFill>
            <a:srgbClr val="FDEDEB"/>
          </a:solidFill>
          <a:ln/>
        </p:spPr>
      </p:sp>
      <p:pic>
        <p:nvPicPr>
          <p:cNvPr id="8" name="Image 1" descr="assets/ic_fees_cor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862072"/>
            <a:ext cx="429768" cy="4297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3703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71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High, punishing fees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68680" y="43891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Charges eat into low-income households and the remittances families depend on.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456432" y="233172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13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749040" y="2642616"/>
            <a:ext cx="868680" cy="868680"/>
          </a:xfrm>
          <a:prstGeom prst="ellipse">
            <a:avLst/>
          </a:prstGeom>
          <a:solidFill>
            <a:srgbClr val="FDEDEB"/>
          </a:solidFill>
          <a:ln/>
        </p:spPr>
      </p:sp>
      <p:pic>
        <p:nvPicPr>
          <p:cNvPr id="13" name="Image 2" descr="assets/ic_branch_cor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8496" y="2862072"/>
            <a:ext cx="429768" cy="4297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30752" y="3703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71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branch networks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3730752" y="43891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banking can mean hours of travel to reach the nearest physical branch.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318504" y="233172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13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611112" y="2642616"/>
            <a:ext cx="868680" cy="868680"/>
          </a:xfrm>
          <a:prstGeom prst="ellipse">
            <a:avLst/>
          </a:prstGeom>
          <a:solidFill>
            <a:srgbClr val="FDEDEB"/>
          </a:solidFill>
          <a:ln/>
        </p:spPr>
      </p:sp>
      <p:pic>
        <p:nvPicPr>
          <p:cNvPr id="18" name="Image 3" descr="assets/ic_lock_cor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0568" y="2862072"/>
            <a:ext cx="429768" cy="4297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92824" y="3703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71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Minimum-balance walls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6592824" y="43891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minimum-balance rules lock out the majority of would-be customers.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9180576" y="233172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13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473184" y="2642616"/>
            <a:ext cx="868680" cy="868680"/>
          </a:xfrm>
          <a:prstGeom prst="ellipse">
            <a:avLst/>
          </a:prstGeom>
          <a:solidFill>
            <a:srgbClr val="FDEDEB"/>
          </a:solidFill>
          <a:ln/>
        </p:spPr>
      </p:sp>
      <p:pic>
        <p:nvPicPr>
          <p:cNvPr id="23" name="Image 4" descr="assets/ic_send_cor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0" y="2862072"/>
            <a:ext cx="429768" cy="4297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454896" y="3703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71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Costly remittances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9454896" y="43891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 money home averages 6–9% of the amount — a tax on the diaspora.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59436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penetration + high mobile adoption + a remittance-driven economy = </a:t>
            </a:r>
            <a:pPr algn="l" indent="0" marL="0">
              <a:buNone/>
            </a:pPr>
            <a:r>
              <a:rPr lang="en-US" sz="1300" b="1" dirty="0">
                <a:solidFill>
                  <a:srgbClr val="00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conditions for a digital challenger.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6C7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 SaaS Ltd</a:t>
            </a:r>
            <a:pPr algn="l" indent="0" marL="0">
              <a:buNone/>
            </a:pPr>
            <a:r>
              <a:rPr lang="en-US" sz="850" spc="100" kern="0" dirty="0">
                <a:solidFill>
                  <a:srgbClr val="6C7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CONFIDENTIAL   ·   360saas.co.uk</a:t>
            </a:r>
            <a:endParaRPr lang="en-US" sz="850" dirty="0"/>
          </a:p>
        </p:txBody>
      </p:sp>
      <p:sp>
        <p:nvSpPr>
          <p:cNvPr id="28" name="Text 21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C7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896112"/>
            <a:ext cx="310896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8686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bank that fits in your pocket</a:t>
            </a:r>
            <a:endParaRPr lang="en-US" sz="3000" dirty="0"/>
          </a:p>
        </p:txBody>
      </p:sp>
      <p:pic>
        <p:nvPicPr>
          <p:cNvPr id="5" name="Image 1" descr="assets/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325880"/>
            <a:ext cx="2651760" cy="54864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85800" y="1819656"/>
            <a:ext cx="713232" cy="713232"/>
          </a:xfrm>
          <a:prstGeom prst="ellipse">
            <a:avLst/>
          </a:prstGeom>
          <a:solidFill>
            <a:srgbClr val="006A61"/>
          </a:solidFill>
          <a:ln/>
        </p:spPr>
      </p:sp>
      <p:pic>
        <p:nvPicPr>
          <p:cNvPr id="7" name="Image 2" descr="assets/ic_bol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002536"/>
            <a:ext cx="347472" cy="34747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00200" y="178308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onboarding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1600200" y="2148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an account from any smartphone in minutes — no branch visit, no paperwork.</a:t>
            </a:r>
            <a:endParaRPr lang="en-US" sz="1150" dirty="0"/>
          </a:p>
        </p:txBody>
      </p:sp>
      <p:sp>
        <p:nvSpPr>
          <p:cNvPr id="10" name="Shape 5"/>
          <p:cNvSpPr/>
          <p:nvPr/>
        </p:nvSpPr>
        <p:spPr>
          <a:xfrm>
            <a:off x="685800" y="2752344"/>
            <a:ext cx="713232" cy="713232"/>
          </a:xfrm>
          <a:prstGeom prst="ellipse">
            <a:avLst/>
          </a:prstGeom>
          <a:solidFill>
            <a:srgbClr val="006A61"/>
          </a:solidFill>
          <a:ln/>
        </p:spPr>
      </p:sp>
      <p:pic>
        <p:nvPicPr>
          <p:cNvPr id="11" name="Image 3" descr="assets/ic_ta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935224"/>
            <a:ext cx="347472" cy="34747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600200" y="271576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Low-to-zero fees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1600200" y="30815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fee structure designed around the underbanked, not against them.</a:t>
            </a:r>
            <a:endParaRPr lang="en-US" sz="1150" dirty="0"/>
          </a:p>
        </p:txBody>
      </p:sp>
      <p:sp>
        <p:nvSpPr>
          <p:cNvPr id="14" name="Shape 8"/>
          <p:cNvSpPr/>
          <p:nvPr/>
        </p:nvSpPr>
        <p:spPr>
          <a:xfrm>
            <a:off x="685800" y="3685032"/>
            <a:ext cx="713232" cy="713232"/>
          </a:xfrm>
          <a:prstGeom prst="ellipse">
            <a:avLst/>
          </a:prstGeom>
          <a:solidFill>
            <a:srgbClr val="006A61"/>
          </a:solidFill>
          <a:ln/>
        </p:spPr>
      </p:sp>
      <p:pic>
        <p:nvPicPr>
          <p:cNvPr id="15" name="Image 4" descr="assets/ic_sen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867912"/>
            <a:ext cx="347472" cy="34747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00200" y="3648456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remittances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1600200" y="401421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transfers at a fraction of the 6–9% the incumbents charge.</a:t>
            </a:r>
            <a:endParaRPr lang="en-US" sz="1150" dirty="0"/>
          </a:p>
        </p:txBody>
      </p:sp>
      <p:sp>
        <p:nvSpPr>
          <p:cNvPr id="18" name="Shape 11"/>
          <p:cNvSpPr/>
          <p:nvPr/>
        </p:nvSpPr>
        <p:spPr>
          <a:xfrm>
            <a:off x="685800" y="4617720"/>
            <a:ext cx="713232" cy="713232"/>
          </a:xfrm>
          <a:prstGeom prst="ellipse">
            <a:avLst/>
          </a:prstGeom>
          <a:solidFill>
            <a:srgbClr val="006A61"/>
          </a:solidFill>
          <a:ln/>
        </p:spPr>
      </p:sp>
      <p:pic>
        <p:nvPicPr>
          <p:cNvPr id="19" name="Image 5" descr="assets/ic_boo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800600"/>
            <a:ext cx="347472" cy="34747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600200" y="4581144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money skills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1600200" y="494690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Financial-literacy tools woven directly into the app experience.</a:t>
            </a:r>
            <a:endParaRPr lang="en-US" sz="1150" dirty="0"/>
          </a:p>
        </p:txBody>
      </p:sp>
      <p:sp>
        <p:nvSpPr>
          <p:cNvPr id="22" name="Shape 14"/>
          <p:cNvSpPr/>
          <p:nvPr/>
        </p:nvSpPr>
        <p:spPr>
          <a:xfrm>
            <a:off x="685800" y="5550408"/>
            <a:ext cx="713232" cy="713232"/>
          </a:xfrm>
          <a:prstGeom prst="ellipse">
            <a:avLst/>
          </a:prstGeom>
          <a:solidFill>
            <a:srgbClr val="006A61"/>
          </a:solidFill>
          <a:ln/>
        </p:spPr>
      </p:sp>
      <p:pic>
        <p:nvPicPr>
          <p:cNvPr id="23" name="Image 6" descr="assets/ic_globe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5733288"/>
            <a:ext cx="347472" cy="34747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600200" y="551383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Multi-currency</a:t>
            </a:r>
            <a:endParaRPr lang="en-US" sz="1600" dirty="0"/>
          </a:p>
        </p:txBody>
      </p:sp>
      <p:sp>
        <p:nvSpPr>
          <p:cNvPr id="25" name="Text 16"/>
          <p:cNvSpPr/>
          <p:nvPr/>
        </p:nvSpPr>
        <p:spPr>
          <a:xfrm>
            <a:off x="1600200" y="58795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for a diaspora moving money across the US, UK, Canada and home.</a:t>
            </a:r>
            <a:endParaRPr lang="en-US" sz="1150" dirty="0"/>
          </a:p>
        </p:txBody>
      </p:sp>
      <p:sp>
        <p:nvSpPr>
          <p:cNvPr id="26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6C7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 SaaS Ltd</a:t>
            </a:r>
            <a:pPr algn="l" indent="0" marL="0">
              <a:buNone/>
            </a:pPr>
            <a:r>
              <a:rPr lang="en-US" sz="850" spc="100" kern="0" dirty="0">
                <a:solidFill>
                  <a:srgbClr val="6C7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CONFIDENTIAL   ·   360saas.co.uk</a:t>
            </a:r>
            <a:endParaRPr lang="en-US" sz="850" dirty="0"/>
          </a:p>
        </p:txBody>
      </p:sp>
      <p:sp>
        <p:nvSpPr>
          <p:cNvPr id="27" name="Text 18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C7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3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eal_gr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C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1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928" y="850392"/>
            <a:ext cx="310896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4128" y="822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blue-ocean, remittance-driven market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94360" y="178308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14300" dist="38100" dir="5400000">
              <a:srgbClr val="0A1413">
                <a:alpha val="16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777240" y="20574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6A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200M+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795528" y="2926080"/>
            <a:ext cx="2295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Unbanked adults across LATAM &amp; the Caribbean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456432" y="178308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14300" dist="38100" dir="5400000">
              <a:srgbClr val="0A1413">
                <a:alpha val="16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639312" y="20574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6A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$100B+</a:t>
            </a:r>
            <a:endParaRPr lang="en-US" sz="4400" dirty="0"/>
          </a:p>
        </p:txBody>
      </p:sp>
      <p:sp>
        <p:nvSpPr>
          <p:cNvPr id="11" name="Text 7"/>
          <p:cNvSpPr/>
          <p:nvPr/>
        </p:nvSpPr>
        <p:spPr>
          <a:xfrm>
            <a:off x="3657600" y="2926080"/>
            <a:ext cx="2295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remittance flows into the region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318504" y="178308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14300" dist="38100" dir="5400000">
              <a:srgbClr val="0A1413">
                <a:alpha val="16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501384" y="20574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6A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75%+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6519672" y="2926080"/>
            <a:ext cx="2295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penetration across the Caribbean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9180576" y="178308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14300" dist="38100" dir="5400000">
              <a:srgbClr val="0A1413">
                <a:alpha val="16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9363456" y="20574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6A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6–9%</a:t>
            </a:r>
            <a:endParaRPr lang="en-US" sz="4400" dirty="0"/>
          </a:p>
        </p:txBody>
      </p:sp>
      <p:sp>
        <p:nvSpPr>
          <p:cNvPr id="17" name="Text 13"/>
          <p:cNvSpPr/>
          <p:nvPr/>
        </p:nvSpPr>
        <p:spPr>
          <a:xfrm>
            <a:off x="9381744" y="2926080"/>
            <a:ext cx="2295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fee on every remittance sent</a:t>
            </a:r>
            <a:endParaRPr lang="en-US" sz="1200" dirty="0"/>
          </a:p>
        </p:txBody>
      </p:sp>
      <p:pic>
        <p:nvPicPr>
          <p:cNvPr id="18" name="Image 2" descr="assets/ic_check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0565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43000" y="403250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F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Digital-banking adoption accelerating across the region post-COVID</a:t>
            </a:r>
            <a:endParaRPr lang="en-US" sz="1250" dirty="0"/>
          </a:p>
        </p:txBody>
      </p:sp>
      <p:pic>
        <p:nvPicPr>
          <p:cNvPr id="20" name="Image 3" descr="assets/ic_check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10565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12280" y="403250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F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climate increasingly favourable to fintech challengers</a:t>
            </a:r>
            <a:endParaRPr lang="en-US" sz="1250" dirty="0"/>
          </a:p>
        </p:txBody>
      </p:sp>
      <p:pic>
        <p:nvPicPr>
          <p:cNvPr id="22" name="Image 4" descr="assets/ic_check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672584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43000" y="45994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F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Diaspora hubs in the US, UK &amp; Canada as built-in acquisition channels</a:t>
            </a:r>
            <a:endParaRPr lang="en-US" sz="1250" dirty="0"/>
          </a:p>
        </p:txBody>
      </p:sp>
      <p:pic>
        <p:nvPicPr>
          <p:cNvPr id="24" name="Image 5" descr="assets/ic_check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4672584"/>
            <a:ext cx="292608" cy="29260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812280" y="45994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F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dominant mobile-banking player has yet emerged region-wide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9F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 SaaS Ltd</a:t>
            </a:r>
            <a:pPr algn="l" indent="0" marL="0">
              <a:buNone/>
            </a:pPr>
            <a:r>
              <a:rPr lang="en-US" sz="850" spc="100" kern="0" dirty="0">
                <a:solidFill>
                  <a:srgbClr val="9F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CONFIDENTIAL   ·   360saas.co.uk</a:t>
            </a:r>
            <a:endParaRPr lang="en-US" sz="850" dirty="0"/>
          </a:p>
        </p:txBody>
      </p:sp>
      <p:sp>
        <p:nvSpPr>
          <p:cNvPr id="27" name="Text 19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F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896112"/>
            <a:ext cx="310896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8686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ways Kin earns — B2C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E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94360" y="2057400"/>
            <a:ext cx="55321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A1413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2176272"/>
            <a:ext cx="475488" cy="475488"/>
          </a:xfrm>
          <a:prstGeom prst="ellipse">
            <a:avLst/>
          </a:prstGeom>
          <a:solidFill>
            <a:srgbClr val="EFF5F2"/>
          </a:solidFill>
          <a:ln/>
        </p:spPr>
      </p:sp>
      <p:pic>
        <p:nvPicPr>
          <p:cNvPr id="8" name="Image 1" descr="assets/ic_exchang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295144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05740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1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fees  </a:t>
            </a:r>
            <a:pPr algn="l" indent="0" marL="0">
              <a:buNone/>
            </a:pPr>
            <a:r>
              <a:rPr lang="en-US" sz="115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 everyday payments and transfers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94360" y="2898648"/>
            <a:ext cx="55321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A1413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77240" y="3017520"/>
            <a:ext cx="475488" cy="475488"/>
          </a:xfrm>
          <a:prstGeom prst="ellipse">
            <a:avLst/>
          </a:prstGeom>
          <a:solidFill>
            <a:srgbClr val="EFF5F2"/>
          </a:solidFill>
          <a:ln/>
        </p:spPr>
      </p:sp>
      <p:pic>
        <p:nvPicPr>
          <p:cNvPr id="12" name="Image 2" descr="assets/ic_send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13639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2898648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1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Remittance spread  </a:t>
            </a:r>
            <a:pPr algn="l" indent="0" marL="0">
              <a:buNone/>
            </a:pPr>
            <a:r>
              <a:rPr lang="en-US" sz="115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Undercutting the 6–9% incumbent rates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94360" y="3739896"/>
            <a:ext cx="55321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A1413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77240" y="3858768"/>
            <a:ext cx="475488" cy="475488"/>
          </a:xfrm>
          <a:prstGeom prst="ellipse">
            <a:avLst/>
          </a:prstGeom>
          <a:solidFill>
            <a:srgbClr val="EFF5F2"/>
          </a:solidFill>
          <a:ln/>
        </p:spPr>
      </p:sp>
      <p:pic>
        <p:nvPicPr>
          <p:cNvPr id="16" name="Image 3" descr="assets/ic_card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3977640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373989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1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Interchange  </a:t>
            </a:r>
            <a:pPr algn="l" indent="0" marL="0">
              <a:buNone/>
            </a:pPr>
            <a:r>
              <a:rPr lang="en-US" sz="115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Revenue on every card transaction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594360" y="4581144"/>
            <a:ext cx="55321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A1413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77240" y="4700016"/>
            <a:ext cx="475488" cy="475488"/>
          </a:xfrm>
          <a:prstGeom prst="ellipse">
            <a:avLst/>
          </a:prstGeom>
          <a:solidFill>
            <a:srgbClr val="EFF5F2"/>
          </a:solidFill>
          <a:ln/>
        </p:spPr>
      </p:sp>
      <p:pic>
        <p:nvPicPr>
          <p:cNvPr id="20" name="Image 4" descr="assets/ic_crown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481888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17320" y="458114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1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tiers  </a:t>
            </a:r>
            <a:pPr algn="l" indent="0" marL="0">
              <a:buNone/>
            </a:pPr>
            <a:r>
              <a:rPr lang="en-US" sz="115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Paid accounts with added features</a:t>
            </a:r>
            <a:endParaRPr lang="en-US" sz="1350" dirty="0"/>
          </a:p>
        </p:txBody>
      </p:sp>
      <p:sp>
        <p:nvSpPr>
          <p:cNvPr id="22" name="Shape 15"/>
          <p:cNvSpPr/>
          <p:nvPr/>
        </p:nvSpPr>
        <p:spPr>
          <a:xfrm>
            <a:off x="594360" y="5422392"/>
            <a:ext cx="55321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A1413">
                <a:alpha val="1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77240" y="5541264"/>
            <a:ext cx="475488" cy="475488"/>
          </a:xfrm>
          <a:prstGeom prst="ellipse">
            <a:avLst/>
          </a:prstGeom>
          <a:solidFill>
            <a:srgbClr val="EFF5F2"/>
          </a:solidFill>
          <a:ln/>
        </p:spPr>
      </p:sp>
      <p:pic>
        <p:nvPicPr>
          <p:cNvPr id="24" name="Image 5" descr="assets/ic_hand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" y="5660136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417320" y="5422392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1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Lending  </a:t>
            </a:r>
            <a:pPr algn="l" indent="0" marL="0">
              <a:buNone/>
            </a:pPr>
            <a:r>
              <a:rPr lang="en-US" sz="115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Credit revenue post-licensing phase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658368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E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CUSTOMERS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6537960" y="2057400"/>
            <a:ext cx="5074920" cy="3950208"/>
          </a:xfrm>
          <a:prstGeom prst="roundRect">
            <a:avLst>
              <a:gd name="adj" fmla="val 2315"/>
            </a:avLst>
          </a:prstGeom>
          <a:solidFill>
            <a:srgbClr val="006A61"/>
          </a:solidFill>
          <a:ln/>
          <a:effectLst>
            <a:outerShdw sx="100000" sy="100000" kx="0" ky="0" algn="bl" rotWithShape="0" blurRad="114300" dist="38100" dir="5400000">
              <a:srgbClr val="0A1413">
                <a:alpha val="16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6812280" y="2423160"/>
            <a:ext cx="658368" cy="658368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29" name="Image 6" descr="assets/ic_users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6872" y="2587752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680960" y="237744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A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Unbanked &amp; underbanked adults across the Caribbean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6812280" y="3337560"/>
            <a:ext cx="658368" cy="658368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32" name="Image 7" descr="assets/ic_send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6872" y="3502152"/>
            <a:ext cx="329184" cy="32918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680960" y="329184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A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Diaspora families sending and receiving remittances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812280" y="4251960"/>
            <a:ext cx="658368" cy="658368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35" name="Image 8" descr="assets/ic_mobile2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76872" y="4416552"/>
            <a:ext cx="329184" cy="32918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680960" y="420624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A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Young, mobile-first users who want modern banking</a:t>
            </a:r>
            <a:endParaRPr lang="en-US" sz="1300" dirty="0"/>
          </a:p>
        </p:txBody>
      </p:sp>
      <p:sp>
        <p:nvSpPr>
          <p:cNvPr id="37" name="Shape 26"/>
          <p:cNvSpPr/>
          <p:nvPr/>
        </p:nvSpPr>
        <p:spPr>
          <a:xfrm>
            <a:off x="6812280" y="5166360"/>
            <a:ext cx="658368" cy="658368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38" name="Image 9" descr="assets/ic_store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76872" y="5330952"/>
            <a:ext cx="329184" cy="329184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7680960" y="512064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A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business owners needing basic financial tools</a:t>
            </a:r>
            <a:endParaRPr lang="en-US" sz="1300" dirty="0"/>
          </a:p>
        </p:txBody>
      </p:sp>
      <p:sp>
        <p:nvSpPr>
          <p:cNvPr id="40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6C7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 SaaS Ltd</a:t>
            </a:r>
            <a:pPr algn="l" indent="0" marL="0">
              <a:buNone/>
            </a:pPr>
            <a:r>
              <a:rPr lang="en-US" sz="850" spc="100" kern="0" dirty="0">
                <a:solidFill>
                  <a:srgbClr val="6C7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CONFIDENTIAL   ·   360saas.co.uk</a:t>
            </a:r>
            <a:endParaRPr lang="en-US" sz="850" dirty="0"/>
          </a:p>
        </p:txBody>
      </p:sp>
      <p:sp>
        <p:nvSpPr>
          <p:cNvPr id="41" name="Text 29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C7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PROGRESS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896112"/>
            <a:ext cx="310896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8686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Pre-seed, and already moving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178308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13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2075688"/>
            <a:ext cx="777240" cy="777240"/>
          </a:xfrm>
          <a:prstGeom prst="ellipse">
            <a:avLst/>
          </a:prstGeom>
          <a:solidFill>
            <a:srgbClr val="EFF5F2"/>
          </a:solidFill>
          <a:ln/>
        </p:spPr>
      </p:sp>
      <p:pic>
        <p:nvPicPr>
          <p:cNvPr id="7" name="Image 1" descr="assets/ic_pound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276856"/>
            <a:ext cx="374904" cy="3749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0392" y="28803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71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£0</a:t>
            </a:r>
            <a:endParaRPr lang="en-US" sz="3300" dirty="0"/>
          </a:p>
        </p:txBody>
      </p:sp>
      <p:sp>
        <p:nvSpPr>
          <p:cNvPr id="9" name="Text 5"/>
          <p:cNvSpPr/>
          <p:nvPr/>
        </p:nvSpPr>
        <p:spPr>
          <a:xfrm>
            <a:off x="868680" y="3474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funding raised to date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456432" y="178308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13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730752" y="2075688"/>
            <a:ext cx="777240" cy="777240"/>
          </a:xfrm>
          <a:prstGeom prst="ellipse">
            <a:avLst/>
          </a:prstGeom>
          <a:solidFill>
            <a:srgbClr val="EFF5F2"/>
          </a:solidFill>
          <a:ln/>
        </p:spPr>
      </p:sp>
      <p:pic>
        <p:nvPicPr>
          <p:cNvPr id="12" name="Image 2" descr="assets/ic_users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2276856"/>
            <a:ext cx="374904" cy="3749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12464" y="28803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71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500+</a:t>
            </a:r>
            <a:endParaRPr lang="en-US" sz="3300" dirty="0"/>
          </a:p>
        </p:txBody>
      </p:sp>
      <p:sp>
        <p:nvSpPr>
          <p:cNvPr id="14" name="Text 9"/>
          <p:cNvSpPr/>
          <p:nvPr/>
        </p:nvSpPr>
        <p:spPr>
          <a:xfrm>
            <a:off x="3730752" y="3474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beta sign-ups from the diaspora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318504" y="178308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13">
                <a:alpha val="1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592824" y="2075688"/>
            <a:ext cx="777240" cy="777240"/>
          </a:xfrm>
          <a:prstGeom prst="ellipse">
            <a:avLst/>
          </a:prstGeom>
          <a:solidFill>
            <a:srgbClr val="EFF5F2"/>
          </a:solidFill>
          <a:ln/>
        </p:spPr>
      </p:sp>
      <p:pic>
        <p:nvPicPr>
          <p:cNvPr id="17" name="Image 3" descr="assets/ic_shield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2" y="2276856"/>
            <a:ext cx="374904" cy="37490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74536" y="28803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71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UK Reg</a:t>
            </a:r>
            <a:endParaRPr lang="en-US" sz="3300" dirty="0"/>
          </a:p>
        </p:txBody>
      </p:sp>
      <p:sp>
        <p:nvSpPr>
          <p:cNvPr id="19" name="Text 13"/>
          <p:cNvSpPr/>
          <p:nvPr/>
        </p:nvSpPr>
        <p:spPr>
          <a:xfrm>
            <a:off x="6592824" y="3474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FCA-compliant regulatory framework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9180576" y="178308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13">
                <a:alpha val="1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454896" y="2075688"/>
            <a:ext cx="777240" cy="777240"/>
          </a:xfrm>
          <a:prstGeom prst="ellipse">
            <a:avLst/>
          </a:prstGeom>
          <a:solidFill>
            <a:srgbClr val="EFF5F2"/>
          </a:solidFill>
          <a:ln/>
        </p:spPr>
      </p:sp>
      <p:pic>
        <p:nvPicPr>
          <p:cNvPr id="22" name="Image 4" descr="assets/ic_code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4" y="2276856"/>
            <a:ext cx="374904" cy="37490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436608" y="28803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71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</a:t>
            </a:r>
            <a:endParaRPr lang="en-US" sz="3300" dirty="0"/>
          </a:p>
        </p:txBody>
      </p:sp>
      <p:sp>
        <p:nvSpPr>
          <p:cNvPr id="24" name="Text 17"/>
          <p:cNvSpPr/>
          <p:nvPr/>
        </p:nvSpPr>
        <p:spPr>
          <a:xfrm>
            <a:off x="9454896" y="3474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development in progress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594360" y="4297680"/>
            <a:ext cx="11018520" cy="1737360"/>
          </a:xfrm>
          <a:prstGeom prst="roundRect">
            <a:avLst>
              <a:gd name="adj" fmla="val 5263"/>
            </a:avLst>
          </a:prstGeom>
          <a:solidFill>
            <a:srgbClr val="006A61"/>
          </a:solidFill>
          <a:ln/>
          <a:effectLst>
            <a:outerShdw sx="100000" sy="100000" kx="0" ky="0" algn="bl" rotWithShape="0" blurRad="114300" dist="38100" dir="5400000">
              <a:srgbClr val="0A1413">
                <a:alpha val="16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914400" y="45262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a solid foundation</a:t>
            </a:r>
            <a:endParaRPr lang="en-US" sz="1500" dirty="0"/>
          </a:p>
        </p:txBody>
      </p:sp>
      <p:pic>
        <p:nvPicPr>
          <p:cNvPr id="27" name="Image 5" descr="assets/ic_check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047488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280160" y="4983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4F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UK-registered company (No. 15297454) with a clear regulatory pathway</a:t>
            </a:r>
            <a:endParaRPr lang="en-US" sz="1150" dirty="0"/>
          </a:p>
        </p:txBody>
      </p:sp>
      <p:pic>
        <p:nvPicPr>
          <p:cNvPr id="29" name="Image 6" descr="assets/ic_check_go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5047488"/>
            <a:ext cx="256032" cy="25603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675120" y="4983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4F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early beta sign-ups from Caribbean diaspora communities</a:t>
            </a:r>
            <a:endParaRPr lang="en-US" sz="1150" dirty="0"/>
          </a:p>
        </p:txBody>
      </p:sp>
      <p:pic>
        <p:nvPicPr>
          <p:cNvPr id="31" name="Image 7" descr="assets/ic_check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5504688"/>
            <a:ext cx="256032" cy="25603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280160" y="5440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4F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In-house development, design &amp; marketing via 360 SaaS Ltd</a:t>
            </a:r>
            <a:endParaRPr lang="en-US" sz="1150" dirty="0"/>
          </a:p>
        </p:txBody>
      </p:sp>
      <p:pic>
        <p:nvPicPr>
          <p:cNvPr id="33" name="Image 8" descr="assets/ic_check_gol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60" y="5504688"/>
            <a:ext cx="256032" cy="256032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675120" y="5440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4F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Experienced technical team with hands-on fintech expertise</a:t>
            </a:r>
            <a:endParaRPr lang="en-US" sz="1150" dirty="0"/>
          </a:p>
        </p:txBody>
      </p:sp>
      <p:sp>
        <p:nvSpPr>
          <p:cNvPr id="35" name="Text 2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6C7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 SaaS Ltd</a:t>
            </a:r>
            <a:pPr algn="l" indent="0" marL="0">
              <a:buNone/>
            </a:pPr>
            <a:r>
              <a:rPr lang="en-US" sz="850" spc="100" kern="0" dirty="0">
                <a:solidFill>
                  <a:srgbClr val="6C7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CONFIDENTIAL   ·   360saas.co.uk</a:t>
            </a:r>
            <a:endParaRPr lang="en-US" sz="850" dirty="0"/>
          </a:p>
        </p:txBody>
      </p:sp>
      <p:sp>
        <p:nvSpPr>
          <p:cNvPr id="36" name="Text 25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C7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896112"/>
            <a:ext cx="310896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8686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£500,000 goes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05840" y="1554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raising £350,000 – £500,000 to build, launch and scale Kin Banking across the region.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194560"/>
          <a:ext cx="49377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1691640" y="36576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171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£500K
</a:t>
            </a:r>
            <a:pPr algn="ctr" indent="0" marL="0">
              <a:lnSpc>
                <a:spcPts val="2600"/>
              </a:lnSpc>
              <a:buNone/>
            </a:pPr>
            <a:r>
              <a:rPr lang="en-US" sz="1000" b="1" spc="200" kern="0" dirty="0">
                <a:solidFill>
                  <a:srgbClr val="6C7A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RAISE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5760720" y="2286000"/>
            <a:ext cx="58521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A1413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989320" y="2459736"/>
            <a:ext cx="457200" cy="457200"/>
          </a:xfrm>
          <a:prstGeom prst="ellipse">
            <a:avLst/>
          </a:prstGeom>
          <a:solidFill>
            <a:srgbClr val="006A61"/>
          </a:solidFill>
          <a:ln/>
        </p:spPr>
      </p:sp>
      <p:pic>
        <p:nvPicPr>
          <p:cNvPr id="10" name="Image 1" descr="assets/ic_co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48" y="2569464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29400" y="237744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71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development &amp; infrastructure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9966960" y="237744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 </a:t>
            </a:r>
            <a:pPr algn="r" indent="0" marL="0">
              <a:buNone/>
            </a:pPr>
            <a:r>
              <a:rPr lang="en-US" sz="110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£200,000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5760720" y="3218688"/>
            <a:ext cx="58521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A1413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5989320" y="3392424"/>
            <a:ext cx="457200" cy="457200"/>
          </a:xfrm>
          <a:prstGeom prst="ellipse">
            <a:avLst/>
          </a:prstGeom>
          <a:solidFill>
            <a:srgbClr val="0FA89A"/>
          </a:solidFill>
          <a:ln/>
        </p:spPr>
      </p:sp>
      <p:pic>
        <p:nvPicPr>
          <p:cNvPr id="15" name="Image 2" descr="assets/ic_gavel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48" y="3502152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29400" y="331012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71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&amp; compliance (FCA)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9966960" y="3310128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A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 </a:t>
            </a:r>
            <a:pPr algn="r" indent="0" marL="0">
              <a:buNone/>
            </a:pPr>
            <a:r>
              <a:rPr lang="en-US" sz="110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£125,000</a:t>
            </a:r>
            <a:endParaRPr lang="en-US" sz="1800" dirty="0"/>
          </a:p>
        </p:txBody>
      </p:sp>
      <p:sp>
        <p:nvSpPr>
          <p:cNvPr id="18" name="Shape 12"/>
          <p:cNvSpPr/>
          <p:nvPr/>
        </p:nvSpPr>
        <p:spPr>
          <a:xfrm>
            <a:off x="5760720" y="4151376"/>
            <a:ext cx="58521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A1413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989320" y="4325112"/>
            <a:ext cx="457200" cy="457200"/>
          </a:xfrm>
          <a:prstGeom prst="ellipse">
            <a:avLst/>
          </a:prstGeom>
          <a:solidFill>
            <a:srgbClr val="FFC247"/>
          </a:solidFill>
          <a:ln/>
        </p:spPr>
      </p:sp>
      <p:pic>
        <p:nvPicPr>
          <p:cNvPr id="20" name="Image 3" descr="assets/ic_bullhorn_dee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9048" y="4434840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629400" y="424281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71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user acquisition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9966960" y="4242816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E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 </a:t>
            </a:r>
            <a:pPr algn="r" indent="0" marL="0">
              <a:buNone/>
            </a:pPr>
            <a:r>
              <a:rPr lang="en-US" sz="110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£100,000</a:t>
            </a:r>
            <a:endParaRPr lang="en-US" sz="1800" dirty="0"/>
          </a:p>
        </p:txBody>
      </p:sp>
      <p:sp>
        <p:nvSpPr>
          <p:cNvPr id="23" name="Shape 16"/>
          <p:cNvSpPr/>
          <p:nvPr/>
        </p:nvSpPr>
        <p:spPr>
          <a:xfrm>
            <a:off x="5760720" y="5084064"/>
            <a:ext cx="58521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A1413">
                <a:alpha val="12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5989320" y="5257800"/>
            <a:ext cx="457200" cy="457200"/>
          </a:xfrm>
          <a:prstGeom prst="ellipse">
            <a:avLst/>
          </a:prstGeom>
          <a:solidFill>
            <a:srgbClr val="FC6958"/>
          </a:solidFill>
          <a:ln/>
        </p:spPr>
      </p:sp>
      <p:pic>
        <p:nvPicPr>
          <p:cNvPr id="25" name="Image 4" descr="assets/ic_users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9048" y="5367528"/>
            <a:ext cx="237744" cy="23774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629400" y="517550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71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team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9966960" y="517550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C69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 </a:t>
            </a:r>
            <a:pPr algn="r" indent="0" marL="0">
              <a:buNone/>
            </a:pPr>
            <a:r>
              <a:rPr lang="en-US" sz="110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£75,000</a:t>
            </a:r>
            <a:endParaRPr lang="en-US" sz="1800" dirty="0"/>
          </a:p>
        </p:txBody>
      </p:sp>
      <p:sp>
        <p:nvSpPr>
          <p:cNvPr id="28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6C7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 SaaS Ltd</a:t>
            </a:r>
            <a:pPr algn="l" indent="0" marL="0">
              <a:buNone/>
            </a:pPr>
            <a:r>
              <a:rPr lang="en-US" sz="850" spc="100" kern="0" dirty="0">
                <a:solidFill>
                  <a:srgbClr val="6C7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CONFIDENTIAL   ·   360saas.co.uk</a:t>
            </a:r>
            <a:endParaRPr lang="en-US" sz="850" dirty="0"/>
          </a:p>
        </p:txBody>
      </p:sp>
      <p:sp>
        <p:nvSpPr>
          <p:cNvPr id="29" name="Text 21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C7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896112"/>
            <a:ext cx="310896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8686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 who ship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1783080"/>
            <a:ext cx="53949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13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194560"/>
            <a:ext cx="1280160" cy="1280160"/>
          </a:xfrm>
          <a:prstGeom prst="ellipse">
            <a:avLst/>
          </a:prstGeom>
          <a:solidFill>
            <a:srgbClr val="006A61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21945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2468880" y="2240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1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Camarlo Richards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487168" y="2743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AE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· CEO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05840" y="3611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Entrepreneur and digital-agency founder. Leads business strategy, partnerships and growth. Founder of 360 SaaS Ltd.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1783080"/>
            <a:ext cx="53949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13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0" y="2194560"/>
            <a:ext cx="1280160" cy="1280160"/>
          </a:xfrm>
          <a:prstGeom prst="ellipse">
            <a:avLst/>
          </a:prstGeom>
          <a:solidFill>
            <a:srgbClr val="006A61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0" y="21945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8092440" y="2240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1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Omar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110728" y="2743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AE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· CTO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629400" y="3611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lead driving platform architecture, development and delivery through 360 SaaS Ltd.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4360" y="4526280"/>
            <a:ext cx="11018520" cy="1463040"/>
          </a:xfrm>
          <a:prstGeom prst="roundRect">
            <a:avLst>
              <a:gd name="adj" fmla="val 6250"/>
            </a:avLst>
          </a:prstGeom>
          <a:solidFill>
            <a:srgbClr val="EFF5F2"/>
          </a:solidFill>
          <a:ln/>
        </p:spPr>
      </p:sp>
      <p:sp>
        <p:nvSpPr>
          <p:cNvPr id="18" name="Shape 15"/>
          <p:cNvSpPr/>
          <p:nvPr/>
        </p:nvSpPr>
        <p:spPr>
          <a:xfrm>
            <a:off x="960120" y="4937760"/>
            <a:ext cx="713232" cy="713232"/>
          </a:xfrm>
          <a:prstGeom prst="ellipse">
            <a:avLst/>
          </a:prstGeom>
          <a:solidFill>
            <a:srgbClr val="006A61"/>
          </a:solidFill>
          <a:ln/>
        </p:spPr>
      </p:sp>
      <p:pic>
        <p:nvPicPr>
          <p:cNvPr id="19" name="Image 1" descr="assets/ic_buildin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5111496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874520" y="48006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71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360 SaaS Ltd
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UK-based digital agency specialising in fintech and mobile-app development — providing the capability to build and launch Kin Banking efficiently.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6C7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 SaaS Ltd</a:t>
            </a:r>
            <a:pPr algn="l" indent="0" marL="0">
              <a:buNone/>
            </a:pPr>
            <a:r>
              <a:rPr lang="en-US" sz="850" spc="100" kern="0" dirty="0">
                <a:solidFill>
                  <a:srgbClr val="6C7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CONFIDENTIAL   ·   360saas.co.uk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C7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CROWDCUBE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896112"/>
            <a:ext cx="310896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8686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D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launchpad for UK fintech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05840" y="1554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Crowdcube has a proven record of backing challengers before they became household names. The Caribbean is a similar blue-ocean opportunity — and we want our diaspora community to own a piece of Kin from day one.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94360" y="2514600"/>
            <a:ext cx="359359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13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788920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6A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Revolut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32688" y="338328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Raised early capital on Crowdcube</a:t>
            </a:r>
            <a:endParaRPr lang="en-US" sz="1200" dirty="0"/>
          </a:p>
        </p:txBody>
      </p:sp>
      <p:pic>
        <p:nvPicPr>
          <p:cNvPr id="9" name="Image 1" descr="assets/ic_star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88620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52728" y="3849624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1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valued at $33B+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52544" y="2514600"/>
            <a:ext cx="359359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13">
                <a:alpha val="16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672584" y="2788920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6A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Monzo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4690872" y="338328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Community-funded via Crowdcube</a:t>
            </a:r>
            <a:endParaRPr lang="en-US" sz="1200" dirty="0"/>
          </a:p>
        </p:txBody>
      </p:sp>
      <p:pic>
        <p:nvPicPr>
          <p:cNvPr id="14" name="Image 2" descr="assets/ic_star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3886200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10912" y="3849624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1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serving millions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110728" y="2514600"/>
            <a:ext cx="359359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413">
                <a:alpha val="16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8430768" y="2788920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6A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Plum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8449056" y="338328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4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savings app, started on Crowdcube</a:t>
            </a:r>
            <a:endParaRPr lang="en-US" sz="1200" dirty="0"/>
          </a:p>
        </p:txBody>
      </p:sp>
      <p:pic>
        <p:nvPicPr>
          <p:cNvPr id="19" name="Image 3" descr="assets/ic_star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56" y="3886200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769096" y="3849624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1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across Europe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94360" y="4617720"/>
            <a:ext cx="11018520" cy="1371600"/>
          </a:xfrm>
          <a:prstGeom prst="roundRect">
            <a:avLst>
              <a:gd name="adj" fmla="val 6667"/>
            </a:avLst>
          </a:prstGeom>
          <a:solidFill>
            <a:srgbClr val="006A61"/>
          </a:solidFill>
          <a:ln/>
          <a:effectLst>
            <a:outerShdw sx="100000" sy="100000" kx="0" ky="0" algn="bl" rotWithShape="0" blurRad="114300" dist="38100" dir="5400000">
              <a:srgbClr val="0A1413">
                <a:alpha val="16000"/>
              </a:srgbClr>
            </a:outerShdw>
          </a:effectLst>
        </p:spPr>
      </p:sp>
      <p:pic>
        <p:nvPicPr>
          <p:cNvPr id="22" name="Image 4" descr="assets/ic_quote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89204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00200" y="480060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EA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want our early users and diaspora community to own a piece of Kin Banking from day one. We're requesting fee flexibility as a pre-revenue, pre-seed company with a compelling market opportunity.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6C7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 SaaS Ltd</a:t>
            </a:r>
            <a:pPr algn="l" indent="0" marL="0">
              <a:buNone/>
            </a:pPr>
            <a:r>
              <a:rPr lang="en-US" sz="850" spc="100" kern="0" dirty="0">
                <a:solidFill>
                  <a:srgbClr val="6C7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CONFIDENTIAL   ·   360saas.co.uk</a:t>
            </a:r>
            <a:endParaRPr lang="en-US" sz="850" dirty="0"/>
          </a:p>
        </p:txBody>
      </p:sp>
      <p:sp>
        <p:nvSpPr>
          <p:cNvPr id="25" name="Text 18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C7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3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eal_gr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40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</a:t>
            </a:r>
            <a:endParaRPr lang="en-US" sz="3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" y="694944"/>
            <a:ext cx="365760" cy="5303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868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C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A PIECE OF THE CARIBBEAN'S SMART BANK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822960" y="21488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</a:t>
            </a:r>
            <a:pPr algn="l" indent="0" marL="0">
              <a:buNone/>
            </a:pPr>
            <a:r>
              <a:rPr lang="en-US" sz="4800" b="1" dirty="0">
                <a:solidFill>
                  <a:srgbClr val="FFC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</a:t>
            </a:r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Bank the unbanked.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868680" y="34290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7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us in building mobile-first banking for 200 million people the legacy system left behind.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868680" y="443484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14300" dist="38100" dir="5400000">
              <a:srgbClr val="0A1413">
                <a:alpha val="16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1143000" y="4599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00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143000" y="4846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1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Camarlo Richards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4434840" y="443484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14300" dist="38100" dir="5400000">
              <a:srgbClr val="0A1413">
                <a:alpha val="16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709160" y="4599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00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709160" y="4846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1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camarlo@360saas.co.uk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001000" y="443484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14300" dist="38100" dir="5400000">
              <a:srgbClr val="0A1413">
                <a:alpha val="1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275320" y="4599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00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8275320" y="4846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1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360saas.co.uk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868680" y="5715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F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RAISE   </a:t>
            </a:r>
            <a:pPr algn="l" indent="0" marL="0">
              <a:buNone/>
            </a:pPr>
            <a:r>
              <a:rPr lang="en-US" sz="1600" b="1" dirty="0">
                <a:solidFill>
                  <a:srgbClr val="FFC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£350,000 – £500,000</a:t>
            </a:r>
            <a:pPr algn="l" indent="0" marL="0">
              <a:buNone/>
            </a:pPr>
            <a:r>
              <a:rPr lang="en-US" sz="1100" dirty="0">
                <a:solidFill>
                  <a:srgbClr val="9F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·    Equity Crowdfunding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86868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7FB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 SaaS Ltd  ·  Company No. 15297454  ·  CONFIDENTIAL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 Banking — Investor Pitch</dc:title>
  <dc:subject>PptxGenJS Presentation</dc:subject>
  <dc:creator>360 SaaS Ltd</dc:creator>
  <cp:lastModifiedBy>360 SaaS Ltd</cp:lastModifiedBy>
  <cp:revision>1</cp:revision>
  <dcterms:created xsi:type="dcterms:W3CDTF">2026-06-23T15:45:25Z</dcterms:created>
  <dcterms:modified xsi:type="dcterms:W3CDTF">2026-06-23T15:45:25Z</dcterms:modified>
</cp:coreProperties>
</file>